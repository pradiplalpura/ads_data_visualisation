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10600"/>
            </a:solidFill>
            <a:ln w="9525" cap="flat" cmpd="sng" algn="ctr">
              <a:noFill/>
              <a:prstDash val="solid"/>
              <a:round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2528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Renault</c:v>
                </c:pt>
                <c:pt idx="1">
                  <c:v>Lotus-Climax</c:v>
                </c:pt>
                <c:pt idx="2">
                  <c:v>Cooper-Climax</c:v>
                </c:pt>
                <c:pt idx="3">
                  <c:v>Brabham-Repco</c:v>
                </c:pt>
                <c:pt idx="4">
                  <c:v>Team Lotus</c:v>
                </c:pt>
                <c:pt idx="5">
                  <c:v>Red Bull</c:v>
                </c:pt>
                <c:pt idx="6">
                  <c:v>Mercedes</c:v>
                </c:pt>
                <c:pt idx="7">
                  <c:v>Williams</c:v>
                </c:pt>
                <c:pt idx="8">
                  <c:v>McLaren</c:v>
                </c:pt>
                <c:pt idx="9">
                  <c:v>Ferrari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facdfbb-f0f1-42ec-bcd2-7cbe31a3f03f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998E"/>
            </a:solidFill>
            <a:ln w="9525" cap="flat" cmpd="sng" algn="ctr">
              <a:noFill/>
              <a:prstDash val="solid"/>
              <a:round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2528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Tyrrell</c:v>
                </c:pt>
                <c:pt idx="1">
                  <c:v>Brabham</c:v>
                </c:pt>
                <c:pt idx="2">
                  <c:v>Benetton</c:v>
                </c:pt>
                <c:pt idx="3">
                  <c:v>Renault</c:v>
                </c:pt>
                <c:pt idx="4">
                  <c:v>Team Lotus</c:v>
                </c:pt>
                <c:pt idx="5">
                  <c:v>Williams</c:v>
                </c:pt>
                <c:pt idx="6">
                  <c:v>Red Bull</c:v>
                </c:pt>
                <c:pt idx="7">
                  <c:v>Mercedes</c:v>
                </c:pt>
                <c:pt idx="8">
                  <c:v>McLaren</c:v>
                </c:pt>
                <c:pt idx="9">
                  <c:v>Ferrari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</c:v>
                </c:pt>
                <c:pt idx="1">
                  <c:v>23</c:v>
                </c:pt>
                <c:pt idx="2">
                  <c:v>27</c:v>
                </c:pt>
                <c:pt idx="3">
                  <c:v>35</c:v>
                </c:pt>
                <c:pt idx="4">
                  <c:v>45</c:v>
                </c:pt>
                <c:pt idx="5">
                  <c:v>114</c:v>
                </c:pt>
                <c:pt idx="6">
                  <c:v>131</c:v>
                </c:pt>
                <c:pt idx="7">
                  <c:v>142</c:v>
                </c:pt>
                <c:pt idx="8">
                  <c:v>201</c:v>
                </c:pt>
                <c:pt idx="9">
                  <c:v>250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c67df6a-7260-4bf5-b709-2978d3aa2d4d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671C6"/>
            </a:solidFill>
            <a:ln w="9525" cap="flat" cmpd="sng" algn="ctr">
              <a:noFill/>
              <a:prstDash val="solid"/>
              <a:round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2528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Tyrrell</c:v>
                </c:pt>
                <c:pt idx="1">
                  <c:v>Brabham</c:v>
                </c:pt>
                <c:pt idx="2">
                  <c:v>Benetton</c:v>
                </c:pt>
                <c:pt idx="3">
                  <c:v>Renault</c:v>
                </c:pt>
                <c:pt idx="4">
                  <c:v>Team Lotus</c:v>
                </c:pt>
                <c:pt idx="5">
                  <c:v>Red Bull</c:v>
                </c:pt>
                <c:pt idx="6">
                  <c:v>Williams</c:v>
                </c:pt>
                <c:pt idx="7">
                  <c:v>Mercedes</c:v>
                </c:pt>
                <c:pt idx="8">
                  <c:v>McLaren</c:v>
                </c:pt>
                <c:pt idx="9">
                  <c:v>Ferrari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</c:v>
                </c:pt>
                <c:pt idx="1">
                  <c:v>78</c:v>
                </c:pt>
                <c:pt idx="2">
                  <c:v>102</c:v>
                </c:pt>
                <c:pt idx="3">
                  <c:v>103</c:v>
                </c:pt>
                <c:pt idx="4">
                  <c:v>114</c:v>
                </c:pt>
                <c:pt idx="5">
                  <c:v>307</c:v>
                </c:pt>
                <c:pt idx="6">
                  <c:v>316</c:v>
                </c:pt>
                <c:pt idx="7">
                  <c:v>331</c:v>
                </c:pt>
                <c:pt idx="8">
                  <c:v>549</c:v>
                </c:pt>
                <c:pt idx="9">
                  <c:v>856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df13e6d-f6a8-4dd4-aa44-2a4c5a1d8c2e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10600"/>
            </a:solidFill>
            <a:ln w="9525" cap="flat" cmpd="sng" algn="ctr">
              <a:noFill/>
              <a:prstDash val="solid"/>
              <a:round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2528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Jim Clark</c:v>
                </c:pt>
                <c:pt idx="1">
                  <c:v>Jackie Stewart</c:v>
                </c:pt>
                <c:pt idx="2">
                  <c:v>Nigel Mansell</c:v>
                </c:pt>
                <c:pt idx="3">
                  <c:v>Fernando Alonso</c:v>
                </c:pt>
                <c:pt idx="4">
                  <c:v>Ayrton Senna</c:v>
                </c:pt>
                <c:pt idx="5">
                  <c:v>Alain Prost</c:v>
                </c:pt>
                <c:pt idx="6">
                  <c:v>Sebastian Vettel</c:v>
                </c:pt>
                <c:pt idx="7">
                  <c:v>Max Verstappen</c:v>
                </c:pt>
                <c:pt idx="8">
                  <c:v>Michael Schumacher</c:v>
                </c:pt>
                <c:pt idx="9">
                  <c:v>Lewis Hamilton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27</c:v>
                </c:pt>
                <c:pt idx="2">
                  <c:v>31</c:v>
                </c:pt>
                <c:pt idx="3">
                  <c:v>32</c:v>
                </c:pt>
                <c:pt idx="4">
                  <c:v>41</c:v>
                </c:pt>
                <c:pt idx="5">
                  <c:v>51</c:v>
                </c:pt>
                <c:pt idx="6">
                  <c:v>53</c:v>
                </c:pt>
                <c:pt idx="7">
                  <c:v>72</c:v>
                </c:pt>
                <c:pt idx="8">
                  <c:v>91</c:v>
                </c:pt>
                <c:pt idx="9">
                  <c:v>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a50bc5c-a114-4d16-9953-c166479c7df0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F8700"/>
            </a:solidFill>
            <a:ln w="9525" cap="flat" cmpd="sng" algn="ctr">
              <a:noFill/>
              <a:prstDash val="solid"/>
              <a:round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2528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Nico Rosberg</c:v>
                </c:pt>
                <c:pt idx="1">
                  <c:v>Lando Norris</c:v>
                </c:pt>
                <c:pt idx="2">
                  <c:v>Sergio Pérez</c:v>
                </c:pt>
                <c:pt idx="3">
                  <c:v>Valtteri Bottas</c:v>
                </c:pt>
                <c:pt idx="4">
                  <c:v>Charles Leclerc</c:v>
                </c:pt>
                <c:pt idx="5">
                  <c:v>Kimi Räikkönen</c:v>
                </c:pt>
                <c:pt idx="6">
                  <c:v>Fernando Alonso</c:v>
                </c:pt>
                <c:pt idx="7">
                  <c:v>Sebastian Vettel</c:v>
                </c:pt>
                <c:pt idx="8">
                  <c:v>Max Verstappen</c:v>
                </c:pt>
                <c:pt idx="9">
                  <c:v>Lewis Hamilton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1594.5</c:v>
                </c:pt>
                <c:pt idx="1">
                  <c:v>1618</c:v>
                </c:pt>
                <c:pt idx="2">
                  <c:v>1638</c:v>
                </c:pt>
                <c:pt idx="3">
                  <c:v>1797</c:v>
                </c:pt>
                <c:pt idx="4">
                  <c:v>1863</c:v>
                </c:pt>
                <c:pt idx="5">
                  <c:v>1873</c:v>
                </c:pt>
                <c:pt idx="6">
                  <c:v>2400</c:v>
                </c:pt>
                <c:pt idx="7">
                  <c:v>3098</c:v>
                </c:pt>
                <c:pt idx="8">
                  <c:v>3632.5</c:v>
                </c:pt>
                <c:pt idx="9">
                  <c:v>5232.5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36fa786-2344-4ff7-ab41-50a22240b20b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3"/>
    </mc:Choice>
    <mc:Fallback>
      <c:style val="13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points</c:v>
                </c:pt>
              </c:strCache>
            </c:strRef>
          </c:tx>
          <c:spPr>
            <a:ln w="28575" cap="rnd" cmpd="sng" algn="ctr">
              <a:solidFill>
                <a:srgbClr val="E10600"/>
              </a:solidFill>
              <a:prstDash val="solid"/>
              <a:round/>
            </a:ln>
          </c:spPr>
          <c:marker>
            <c:symbol val="diamond"/>
            <c:size val="4"/>
            <c:spPr>
              <a:solidFill>
                <a:srgbClr val="E10600"/>
              </a:solidFill>
            </c:spPr>
          </c:marker>
          <c:dLbls>
            <c:delete val="1"/>
          </c:dLbls>
          <c:cat>
            <c:strRef>
              <c:f>Sheet1!$A$2:$A$21</c:f>
              <c:strCache>
                <c:ptCount val="20"/>
                <c:pt idx="0">
                  <c:v>1950</c:v>
                </c:pt>
                <c:pt idx="1">
                  <c:v>1954</c:v>
                </c:pt>
                <c:pt idx="2">
                  <c:v>1958</c:v>
                </c:pt>
                <c:pt idx="3">
                  <c:v>1962</c:v>
                </c:pt>
                <c:pt idx="4">
                  <c:v>1966</c:v>
                </c:pt>
                <c:pt idx="5">
                  <c:v>1970</c:v>
                </c:pt>
                <c:pt idx="6">
                  <c:v>1974</c:v>
                </c:pt>
                <c:pt idx="7">
                  <c:v>1978</c:v>
                </c:pt>
                <c:pt idx="8">
                  <c:v>1982</c:v>
                </c:pt>
                <c:pt idx="9">
                  <c:v>1986</c:v>
                </c:pt>
                <c:pt idx="10">
                  <c:v>1990</c:v>
                </c:pt>
                <c:pt idx="11">
                  <c:v>1994</c:v>
                </c:pt>
                <c:pt idx="12">
                  <c:v>1998</c:v>
                </c:pt>
                <c:pt idx="13">
                  <c:v>2002</c:v>
                </c:pt>
                <c:pt idx="14">
                  <c:v>2006</c:v>
                </c:pt>
                <c:pt idx="15">
                  <c:v>2010</c:v>
                </c:pt>
                <c:pt idx="16">
                  <c:v>2014</c:v>
                </c:pt>
                <c:pt idx="17">
                  <c:v>2018</c:v>
                </c:pt>
                <c:pt idx="18">
                  <c:v>2022</c:v>
                </c:pt>
                <c:pt idx="19">
                  <c:v>2026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168</c:v>
                </c:pt>
                <c:pt idx="1">
                  <c:v>215.56</c:v>
                </c:pt>
                <c:pt idx="2">
                  <c:v>259</c:v>
                </c:pt>
                <c:pt idx="3">
                  <c:v>225</c:v>
                </c:pt>
                <c:pt idx="4">
                  <c:v>221</c:v>
                </c:pt>
                <c:pt idx="5">
                  <c:v>324</c:v>
                </c:pt>
                <c:pt idx="6">
                  <c:v>375</c:v>
                </c:pt>
                <c:pt idx="7">
                  <c:v>400</c:v>
                </c:pt>
                <c:pt idx="8">
                  <c:v>399</c:v>
                </c:pt>
                <c:pt idx="9">
                  <c:v>400</c:v>
                </c:pt>
                <c:pt idx="10">
                  <c:v>400</c:v>
                </c:pt>
                <c:pt idx="11">
                  <c:v>416</c:v>
                </c:pt>
                <c:pt idx="12">
                  <c:v>416</c:v>
                </c:pt>
                <c:pt idx="13">
                  <c:v>442</c:v>
                </c:pt>
                <c:pt idx="14">
                  <c:v>702</c:v>
                </c:pt>
                <c:pt idx="15">
                  <c:v>1919</c:v>
                </c:pt>
                <c:pt idx="16">
                  <c:v>2020</c:v>
                </c:pt>
                <c:pt idx="17">
                  <c:v>2121</c:v>
                </c:pt>
                <c:pt idx="18">
                  <c:v>2242</c:v>
                </c:pt>
                <c:pt idx="19">
                  <c:v>1616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EE1E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8f712d2-1ee8-4a68-85a6-202d33f3bef8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114800" cy="6858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tructor_wars_dashboard_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5074920" cy="2852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583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Aptos"/>
              </a:defRPr>
            </a:pPr>
            <a:r>
              <a:t>FORMULA 1  /  DATA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400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CONSTRUCTOR</a:t>
            </a:r>
            <a:br/>
            <a:r>
              <a:t>WARS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3639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DCDEE1"/>
                </a:solidFill>
                <a:latin typeface="Aptos"/>
              </a:defRPr>
            </a:pPr>
            <a:r>
              <a:t>THE BATTLE FOR TEAM SUPREMACY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B7BBC1"/>
                </a:solidFill>
                <a:latin typeface="Aptos"/>
              </a:defRPr>
            </a:pPr>
            <a:r>
              <a:t>A historical analytics dashboard exploring constructor titles,</a:t>
            </a:r>
            <a:br/>
            <a:r>
              <a:t>Grand Prix wins, podiums and driver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B8BD"/>
                </a:solidFill>
                <a:latin typeface="Aptos"/>
              </a:defRPr>
            </a:pPr>
            <a:r>
              <a:t>PROJECT PRESENTATION  •  ADS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4709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Aptos"/>
              </a:defRPr>
            </a:pPr>
            <a:r>
              <a:t>1950–2026*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1389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B4B8BD"/>
                </a:solidFill>
                <a:latin typeface="Aptos"/>
              </a:defRPr>
            </a:pPr>
            <a:r>
              <a:t>*2026 season may be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A6AAAF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One sport. Decades of data. A changing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A dashboard-led investigation of Formula 1 team and driver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10600"/>
                </a:solidFill>
                <a:latin typeface="Aptos"/>
              </a:defRPr>
            </a:pPr>
            <a:r>
              <a:t>28,180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5F656B"/>
                </a:solidFill>
                <a:latin typeface="Aptos"/>
              </a:defRPr>
            </a:pPr>
            <a:r>
              <a:t>EMBEDDED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916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84708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998E"/>
                </a:solidFill>
                <a:latin typeface="Aptos"/>
              </a:defRPr>
            </a:pPr>
            <a:r>
              <a:t>27,590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048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5F656B"/>
                </a:solidFill>
                <a:latin typeface="Aptos"/>
              </a:defRPr>
            </a:pPr>
            <a:r>
              <a:t>GRAND PRIX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6916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4708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671C6"/>
                </a:solidFill>
                <a:latin typeface="Aptos"/>
              </a:defRPr>
            </a:pPr>
            <a:r>
              <a:t>590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048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5F656B"/>
                </a:solidFill>
                <a:latin typeface="Aptos"/>
              </a:defRPr>
            </a:pPr>
            <a:r>
              <a:t>SPRINT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916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84708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8700"/>
                </a:solidFill>
                <a:latin typeface="Aptos"/>
              </a:defRPr>
            </a:pPr>
            <a:r>
              <a:t>865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4048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5F656B"/>
                </a:solidFill>
                <a:latin typeface="Aptos"/>
              </a:defRPr>
            </a:pPr>
            <a:r>
              <a:t>DRIVER 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6916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84708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10600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048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5F656B"/>
                </a:solidFill>
                <a:latin typeface="Aptos"/>
              </a:defRPr>
            </a:pPr>
            <a:r>
              <a:t>CONSTRUCTOR ENTITIES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154680"/>
            <a:ext cx="6629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0600"/>
                </a:solidFill>
                <a:latin typeface="Aptos"/>
              </a:defRPr>
            </a:pPr>
            <a:r>
              <a:t>THE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67328"/>
            <a:ext cx="6035040" cy="164592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Which constructors have accumulated the most championship titles?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How do race wins and podiums change the historical leaderboard?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Which drivers stand out on wins and recorded points?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How does the volume of recorded points change across seasons?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15468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0600"/>
                </a:solidFill>
                <a:latin typeface="Aptos"/>
              </a:defRPr>
            </a:pPr>
            <a:r>
              <a:t>DATA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7947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282D"/>
                </a:solidFill>
                <a:latin typeface="Aptos"/>
              </a:defRPr>
            </a:pPr>
            <a:r>
              <a:t>1950–2026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462272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5F656B"/>
                </a:solidFill>
                <a:latin typeface="Aptos"/>
              </a:defRPr>
            </a:pPr>
            <a:r>
              <a:t>1,165 race/event entries  •  78 circuits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1663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5F656B"/>
                </a:solidFill>
                <a:latin typeface="Aptos"/>
              </a:defRPr>
            </a:pPr>
            <a:r>
              <a:t>Source: data embedded in the supplied HTML dashboard. 2026 is not a completed season.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02 / 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A single view for exploring the season-by-season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Searchable filters let viewers narrow the same visual story by season, constructor, driver, circuit and round.</a:t>
            </a:r>
          </a:p>
        </p:txBody>
      </p:sp>
      <p:pic>
        <p:nvPicPr>
          <p:cNvPr id="6" name="Picture 5" descr="C:/Users/Admin/Pictures/Screenshots/Screenshot 2026-10-11 224542.pngScreenshot 2026-10-11 224542"/>
          <p:cNvPicPr>
            <a:picLocks noChangeAspect="1"/>
          </p:cNvPicPr>
          <p:nvPr/>
        </p:nvPicPr>
        <p:blipFill>
          <a:blip r:embed="rId1"/>
          <a:srcRect l="127" r="127"/>
          <a:stretch>
            <a:fillRect/>
          </a:stretch>
        </p:blipFill>
        <p:spPr>
          <a:xfrm>
            <a:off x="685800" y="1627632"/>
            <a:ext cx="754380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691640"/>
            <a:ext cx="31089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0600"/>
                </a:solidFill>
                <a:latin typeface="Aptos"/>
              </a:defRPr>
            </a:pPr>
            <a:r>
              <a:t>INTERACTION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423160"/>
            <a:ext cx="2514600" cy="301752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Season range selection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Constructor, driver and circuit filters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Round filtering and reset control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Metric switching for titles, wins, podiums and points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Coordinated views for comparative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03 / CONSTRUCTOR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Championships tell one story; race wins tell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Title totals and Grand Prix wins are separate measures of sustained success and race-day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Top constructors by championship-title indicator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" y="2130552"/>
          <a:ext cx="5138928" cy="3813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60020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Top constructors by Grand Prix wins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28231" y="2130552"/>
          <a:ext cx="5001768" cy="3813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236208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5F656B"/>
                </a:solidFill>
                <a:latin typeface="Aptos"/>
              </a:defRPr>
            </a:pPr>
            <a:r>
              <a:t>Interpretation: championship totals reward season-long consistency; race wins capture individual event victories. Do not treat these metrics as interchangeable.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04 /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Podiums measure repeat competitiveness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A podium count captures more than victories: it highlights teams that repeatedly finish near the front.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492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6126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Top constructors by recorded Grand Prix podium finishes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4671" y="2176272"/>
          <a:ext cx="6144768" cy="3721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06640" y="1645920"/>
            <a:ext cx="4160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965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0600"/>
                </a:solidFill>
                <a:latin typeface="Aptos"/>
              </a:defRPr>
            </a:pPr>
            <a:r>
              <a:t>HOW TO READ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87168"/>
            <a:ext cx="3337560" cy="246888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Wins show conversion into first place.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Podiums broaden the view to 1st–3rd finishes.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A team can have a strong podium count without leading the win table.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Historical comparisons depend on the source's podium flag and race coverage.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05 / DRIVER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Individual excellence within a team 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The driver views complement constructor-level totals by showing who converted opportunities into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Top drivers by Grand Prix wins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" y="2176272"/>
          <a:ext cx="5138928" cy="3721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64592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83080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Top drivers by points recorded in source rows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28231" y="2176272"/>
          <a:ext cx="5001768" cy="3721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236208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5F656B"/>
                </a:solidFill>
                <a:latin typeface="Aptos"/>
              </a:defRPr>
            </a:pPr>
            <a:r>
              <a:t>Caution: career points span scoring systems that changed substantially over F1 history; raw totals are not fully comparable across eras.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06 / SEASON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Recorded points rise and fall with the sport's changing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The line is a descriptive view of recorded Grand Prix points, not a normalized measure of competitiveness.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731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282D"/>
                </a:solidFill>
                <a:latin typeface="Aptos"/>
              </a:defRPr>
            </a:pPr>
            <a:r>
              <a:t>Total points recorded per season (sampled for readability)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2212848"/>
          <a:ext cx="69494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8160" y="164592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0600"/>
                </a:solidFill>
                <a:latin typeface="Aptos"/>
              </a:defRPr>
            </a:pPr>
            <a:r>
              <a:t>WHY THE TREND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14600"/>
            <a:ext cx="2743200" cy="228600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Scoring rules changed across decades.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Calendar length and race counts changed.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Sprint events are excluded from this line.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2026 values represent an incomplete season.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07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Clear rules keep the comparisons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The calculations follow the embedded HTML dashboard's field conventions wherever they are identifiable.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0600"/>
                </a:solidFill>
                <a:latin typeface="Aptos"/>
              </a:defRPr>
            </a:pPr>
            <a:r>
              <a:t>AGGREGATION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00600" cy="315468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Grand Prix wins and podiums use GP rows only; sprint rows are excluded.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Race-level duplicate rows are deduplicated for win counts.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Driver points sum the points field recorded on each source row.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Season trend sums points across GP rows by year.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Constructor titles use the embedded season-summary indicator.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3852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0600"/>
                </a:solidFill>
                <a:latin typeface="Aptos"/>
              </a:defRPr>
            </a:pPr>
            <a:r>
              <a:t>LIMITATIONS TO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526280" cy="315468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2026 is incomplete and should not be compared as a finished season.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Points totals are not normalized for historical scoring changes.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The HTML file does not visibly document the original data provider.</a:t>
            </a:r>
          </a:p>
          <a:p>
            <a:pPr>
              <a:spcAft>
                <a:spcPts val="1000"/>
              </a:spcAft>
              <a:defRPr sz="1300">
                <a:solidFill>
                  <a:srgbClr val="25282D"/>
                </a:solidFill>
                <a:latin typeface="Aptos"/>
              </a:defRPr>
            </a:pPr>
            <a:r>
              <a:t>•  Season-summary/title field semantics should be checked against a data dictionary before formal publication.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08 / WHAT THE DASHBOARD HELPS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Turn the leaderboard into 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3C6CA"/>
                </a:solidFill>
                <a:latin typeface="Aptos"/>
              </a:defRPr>
            </a:pPr>
            <a:r>
              <a:t>Use the interactive filters to test these comparisons rather than relying on a single all-time ranking.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1600200"/>
          </a:xfrm>
          <a:prstGeom prst="roundRect">
            <a:avLst/>
          </a:prstGeom>
          <a:solidFill>
            <a:srgbClr val="1F2228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Aptos"/>
              </a:defRPr>
            </a:pPr>
            <a:r>
              <a:t>LONG-TERM DOMINANCE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Championship totals highlight teams that repeatedly built title-winning seasons.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03520" cy="1600200"/>
          </a:xfrm>
          <a:prstGeom prst="roundRect">
            <a:avLst/>
          </a:prstGeom>
          <a:solidFill>
            <a:srgbClr val="1F2228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Aptos"/>
              </a:defRPr>
            </a:pPr>
            <a:r>
              <a:t>RACE-DAY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50008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Grand Prix wins show who converted pace and opportunity into victories.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03520" cy="1600200"/>
          </a:xfrm>
          <a:prstGeom prst="roundRect">
            <a:avLst/>
          </a:prstGeom>
          <a:solidFill>
            <a:srgbClr val="1F2228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Aptos"/>
              </a:defRPr>
            </a:pPr>
            <a:r>
              <a:t>REPEATABILITY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Podiums reveal sustained front-running performance beyond wins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303520" cy="1600200"/>
          </a:xfrm>
          <a:prstGeom prst="roundRect">
            <a:avLst/>
          </a:prstGeom>
          <a:solidFill>
            <a:srgbClr val="1F2228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Aptos"/>
              </a:defRPr>
            </a:pPr>
            <a:r>
              <a:t>ERA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15968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Raw points totals need historical context before comparing drivers across generations.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CDD0D4"/>
                </a:solidFill>
                <a:latin typeface="Aptos"/>
              </a:defRPr>
            </a:pPr>
            <a:r>
              <a:t>Recommended next step: validate the dataset source and document each field before making definitive historical claims.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A6AAAF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25282D"/>
                </a:solidFill>
                <a:latin typeface="Aptos"/>
              </a:defRPr>
            </a:pPr>
            <a:r>
              <a:t>A strong foundation for historical sports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33856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5F656B"/>
                </a:solidFill>
                <a:latin typeface="Aptos"/>
              </a:defRPr>
            </a:pPr>
            <a:r>
              <a:t>Constructor Wars combines interactive exploration with transparent, reproducible chart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400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0600"/>
                </a:solidFill>
                <a:latin typeface="Aptos"/>
              </a:defRPr>
            </a:pPr>
            <a:r>
              <a:t>PROJECT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669280" cy="237744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A multi-decade view of constructor and driver performance.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Five complementary lenses: titles, wins, podiums, driver points and season trend.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Interactive filters support focused comparisons by season and entity.</a:t>
            </a:r>
          </a:p>
          <a:p>
            <a:pPr>
              <a:spcAft>
                <a:spcPts val="1000"/>
              </a:spcAft>
              <a:defRPr sz="1400">
                <a:solidFill>
                  <a:srgbClr val="25282D"/>
                </a:solidFill>
                <a:latin typeface="Aptos"/>
              </a:defRPr>
            </a:pPr>
            <a:r>
              <a:t>•  Careful metric definitions are essential when historical rules and datasets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91640"/>
            <a:ext cx="4206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993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0600"/>
                </a:solidFill>
                <a:latin typeface="Aptos"/>
              </a:defRPr>
            </a:pPr>
            <a:r>
              <a:t>DATA &amp;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514600"/>
            <a:ext cx="3474720" cy="2560320"/>
          </a:xfrm>
          <a:prstGeom prst="rect">
            <a:avLst/>
          </a:prstGeom>
          <a:noFill/>
        </p:spPr>
        <p:txBody>
          <a:bodyPr wrap="square" lIns="25400" tIns="25400" rIns="5080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Basis: supplied interactive HTML dashboard and its embedded data.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Charts: editable PowerPoint chart objects.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Visual theme: F1-inspired red, charcoal and warm white.</a:t>
            </a:r>
          </a:p>
          <a:p>
            <a:pPr>
              <a:spcAft>
                <a:spcPts val="1000"/>
              </a:spcAft>
              <a:defRPr sz="1200">
                <a:solidFill>
                  <a:srgbClr val="25282D"/>
                </a:solidFill>
                <a:latin typeface="Aptos"/>
              </a:defRPr>
            </a:pPr>
            <a:r>
              <a:t>•  External dataset provenance was not visible in the supplied HTML.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081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E1060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F656B"/>
                </a:solidFill>
                <a:latin typeface="Aptos"/>
              </a:defRPr>
            </a:pPr>
            <a:r>
              <a:t>CONSTRUCTOR WARS  /  HISTORICAL F1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E1060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5725</Words>
  <Application>WPS Presentation</Application>
  <PresentationFormat>On-screen Show (4:3)</PresentationFormat>
  <Paragraphs>230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PTlalpura 08</cp:lastModifiedBy>
  <cp:revision>2</cp:revision>
  <dcterms:created xsi:type="dcterms:W3CDTF">2013-01-27T09:14:00Z</dcterms:created>
  <dcterms:modified xsi:type="dcterms:W3CDTF">2026-10-11T17:16:14Z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9F3575ABC7D34C4BAE181CADF11F709C_12</vt:lpwstr>
  </property>
  <property fmtid="{D5CDD505-2E9C-101B-9397-08002B2CF9AE}" pid="3" name="KSOProductBuildVer">
    <vt:lpwstr>1033-12.1.0.28485</vt:lpwstr>
  </property>
</Properties>
</file>